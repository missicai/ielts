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858000" cy="9144000"/>
  <p:embeddedFontLst>
    <p:embeddedFont>
      <p:font typeface="Gothic A1"/>
      <p:regular r:id="rId32"/>
      <p:bold r:id="rId33"/>
    </p:embeddedFont>
    <p:embeddedFont>
      <p:font typeface="Quattrocento Sans"/>
      <p:regular r:id="rId34"/>
      <p:bold r:id="rId35"/>
      <p:italic r:id="rId36"/>
      <p:boldItalic r:id="rId37"/>
    </p:embeddedFont>
    <p:embeddedFont>
      <p:font typeface="Passion One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gSO6Kmx0Sbph5UqwI421VJvtLS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621E1A-DF5E-4321-8778-587ADE551405}">
  <a:tblStyle styleId="{AF621E1A-DF5E-4321-8778-587ADE55140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GothicA1-bold.fntdata"/><Relationship Id="rId10" Type="http://schemas.openxmlformats.org/officeDocument/2006/relationships/slide" Target="slides/slide5.xml"/><Relationship Id="rId32" Type="http://schemas.openxmlformats.org/officeDocument/2006/relationships/font" Target="fonts/GothicA1-regular.fntdata"/><Relationship Id="rId13" Type="http://schemas.openxmlformats.org/officeDocument/2006/relationships/slide" Target="slides/slide8.xml"/><Relationship Id="rId35" Type="http://schemas.openxmlformats.org/officeDocument/2006/relationships/font" Target="fonts/QuattrocentoSans-bold.fntdata"/><Relationship Id="rId12" Type="http://schemas.openxmlformats.org/officeDocument/2006/relationships/slide" Target="slides/slide7.xml"/><Relationship Id="rId34" Type="http://schemas.openxmlformats.org/officeDocument/2006/relationships/font" Target="fonts/QuattrocentoSans-regular.fntdata"/><Relationship Id="rId15" Type="http://schemas.openxmlformats.org/officeDocument/2006/relationships/slide" Target="slides/slide10.xml"/><Relationship Id="rId37" Type="http://schemas.openxmlformats.org/officeDocument/2006/relationships/font" Target="fonts/QuattrocentoSans-boldItalic.fntdata"/><Relationship Id="rId14" Type="http://schemas.openxmlformats.org/officeDocument/2006/relationships/slide" Target="slides/slide9.xml"/><Relationship Id="rId36" Type="http://schemas.openxmlformats.org/officeDocument/2006/relationships/font" Target="fonts/QuattrocentoSans-italic.fntdata"/><Relationship Id="rId17" Type="http://schemas.openxmlformats.org/officeDocument/2006/relationships/slide" Target="slides/slide12.xml"/><Relationship Id="rId39" Type="http://schemas.openxmlformats.org/officeDocument/2006/relationships/font" Target="fonts/PassionOne-bold.fntdata"/><Relationship Id="rId16" Type="http://schemas.openxmlformats.org/officeDocument/2006/relationships/slide" Target="slides/slide11.xml"/><Relationship Id="rId38" Type="http://schemas.openxmlformats.org/officeDocument/2006/relationships/font" Target="fonts/PassionOne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6b0670e84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g36b0670e84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6b0670e840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g36b0670e840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6b0670e840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g36b0670e840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6b0670e840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g36b0670e840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b0670e840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g36b0670e840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6b0670e840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2" name="Google Shape;342;g36b0670e840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6b0670e840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g36b0670e840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6b0670e840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g36b0670e840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ocabulary 1">
  <p:cSld name="Vocabulary 1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17" name="Google Shape;17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25494" y="111966"/>
            <a:ext cx="1371600" cy="8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7"/>
          <p:cNvSpPr txBox="1"/>
          <p:nvPr>
            <p:ph idx="1" type="body"/>
          </p:nvPr>
        </p:nvSpPr>
        <p:spPr>
          <a:xfrm>
            <a:off x="1" y="709126"/>
            <a:ext cx="4273420" cy="920622"/>
          </a:xfrm>
          <a:prstGeom prst="rect">
            <a:avLst/>
          </a:prstGeom>
          <a:solidFill>
            <a:schemeClr val="dk1">
              <a:alpha val="69019"/>
            </a:schemeClr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37"/>
          <p:cNvSpPr txBox="1"/>
          <p:nvPr>
            <p:ph idx="3" type="body"/>
          </p:nvPr>
        </p:nvSpPr>
        <p:spPr>
          <a:xfrm>
            <a:off x="0" y="1629747"/>
            <a:ext cx="4273419" cy="911290"/>
          </a:xfrm>
          <a:prstGeom prst="rect">
            <a:avLst/>
          </a:prstGeom>
          <a:solidFill>
            <a:schemeClr val="dk1">
              <a:alpha val="69019"/>
            </a:schemeClr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mmar point">
  <p:cSld name="Grammar poi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9"/>
          <p:cNvSpPr/>
          <p:nvPr/>
        </p:nvSpPr>
        <p:spPr>
          <a:xfrm>
            <a:off x="0" y="1"/>
            <a:ext cx="12192000" cy="16942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9"/>
          <p:cNvSpPr txBox="1"/>
          <p:nvPr>
            <p:ph idx="1" type="body"/>
          </p:nvPr>
        </p:nvSpPr>
        <p:spPr>
          <a:xfrm>
            <a:off x="609600" y="2670175"/>
            <a:ext cx="10972800" cy="349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1C24"/>
              </a:buClr>
              <a:buSzPts val="4000"/>
              <a:buNone/>
              <a:defRPr b="1" sz="4000">
                <a:solidFill>
                  <a:srgbClr val="ED1C24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4191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5FA6"/>
              </a:buClr>
              <a:buSzPts val="3000"/>
              <a:buChar char="•"/>
              <a:defRPr sz="3000">
                <a:solidFill>
                  <a:srgbClr val="175FA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5FA6"/>
              </a:buClr>
              <a:buSzPts val="2000"/>
              <a:buChar char="•"/>
              <a:defRPr>
                <a:solidFill>
                  <a:srgbClr val="175FA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5FA6"/>
              </a:buClr>
              <a:buSzPts val="1800"/>
              <a:buChar char="•"/>
              <a:defRPr>
                <a:solidFill>
                  <a:srgbClr val="175FA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5FA6"/>
              </a:buClr>
              <a:buSzPts val="1800"/>
              <a:buChar char="•"/>
              <a:defRPr>
                <a:solidFill>
                  <a:srgbClr val="175FA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9"/>
          <p:cNvSpPr txBox="1"/>
          <p:nvPr>
            <p:ph idx="2" type="body"/>
          </p:nvPr>
        </p:nvSpPr>
        <p:spPr>
          <a:xfrm>
            <a:off x="2440162" y="554186"/>
            <a:ext cx="7313437" cy="11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strips dir="rd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2600" lvl="0" marL="457200" algn="l">
              <a:lnSpc>
                <a:spcPct val="120000"/>
              </a:lnSpc>
              <a:spcBef>
                <a:spcPts val="4004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1pPr>
            <a:lvl2pPr indent="-482600" lvl="1" marL="914400" algn="l">
              <a:lnSpc>
                <a:spcPct val="120000"/>
              </a:lnSpc>
              <a:spcBef>
                <a:spcPts val="4004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120000"/>
              </a:lnSpc>
              <a:spcBef>
                <a:spcPts val="4004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120000"/>
              </a:lnSpc>
              <a:spcBef>
                <a:spcPts val="4004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120000"/>
              </a:lnSpc>
              <a:spcBef>
                <a:spcPts val="4004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1" name="Google Shape;31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: Practice">
  <p:cSld name="Section: Practic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Style slide layout">
  <p:cSld name="14_Style slide layout">
    <p:bg>
      <p:bgPr>
        <a:solidFill>
          <a:schemeClr val="lt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2"/>
          <p:cNvSpPr/>
          <p:nvPr>
            <p:ph idx="2" type="pic"/>
          </p:nvPr>
        </p:nvSpPr>
        <p:spPr>
          <a:xfrm>
            <a:off x="790575" y="1720158"/>
            <a:ext cx="3428340" cy="441809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grpSp>
        <p:nvGrpSpPr>
          <p:cNvPr id="38" name="Google Shape;38;p42"/>
          <p:cNvGrpSpPr/>
          <p:nvPr/>
        </p:nvGrpSpPr>
        <p:grpSpPr>
          <a:xfrm>
            <a:off x="200025" y="266700"/>
            <a:ext cx="11785167" cy="834005"/>
            <a:chOff x="131989" y="339508"/>
            <a:chExt cx="20203396" cy="1304926"/>
          </a:xfrm>
        </p:grpSpPr>
        <p:sp>
          <p:nvSpPr>
            <p:cNvPr id="39" name="Google Shape;39;p42"/>
            <p:cNvSpPr/>
            <p:nvPr/>
          </p:nvSpPr>
          <p:spPr>
            <a:xfrm>
              <a:off x="495370" y="339510"/>
              <a:ext cx="19840015" cy="1304924"/>
            </a:xfrm>
            <a:prstGeom prst="parallelogram">
              <a:avLst>
                <a:gd fmla="val 54718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42"/>
            <p:cNvSpPr/>
            <p:nvPr/>
          </p:nvSpPr>
          <p:spPr>
            <a:xfrm>
              <a:off x="131989" y="339508"/>
              <a:ext cx="1012384" cy="1304924"/>
            </a:xfrm>
            <a:prstGeom prst="parallelogram">
              <a:avLst>
                <a:gd fmla="val 7712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" name="Google Shape;41;p42"/>
          <p:cNvSpPr txBox="1"/>
          <p:nvPr>
            <p:ph idx="1" type="body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0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1" name="Google Shape;51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4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4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4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4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2" name="Google Shape;82;p4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5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5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b0670e840_1_134"/>
          <p:cNvSpPr txBox="1"/>
          <p:nvPr>
            <p:ph idx="1" type="body"/>
          </p:nvPr>
        </p:nvSpPr>
        <p:spPr>
          <a:xfrm>
            <a:off x="1329267" y="2254067"/>
            <a:ext cx="5234700" cy="3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4381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Char char="●"/>
              <a:defRPr sz="2100"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07" name="Google Shape;107;g36b0670e840_1_134"/>
          <p:cNvSpPr txBox="1"/>
          <p:nvPr>
            <p:ph type="title"/>
          </p:nvPr>
        </p:nvSpPr>
        <p:spPr>
          <a:xfrm>
            <a:off x="950967" y="415567"/>
            <a:ext cx="10265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assion One"/>
              <a:buNone/>
              <a:defRPr sz="4900">
                <a:solidFill>
                  <a:srgbClr val="353056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assion One"/>
              <a:buNone/>
              <a:defRPr sz="4000">
                <a:latin typeface="Passion One"/>
                <a:ea typeface="Passion One"/>
                <a:cs typeface="Passion One"/>
                <a:sym typeface="Passion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assion One"/>
              <a:buNone/>
              <a:defRPr sz="4000">
                <a:latin typeface="Passion One"/>
                <a:ea typeface="Passion One"/>
                <a:cs typeface="Passion One"/>
                <a:sym typeface="Passion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assion One"/>
              <a:buNone/>
              <a:defRPr sz="4000">
                <a:latin typeface="Passion One"/>
                <a:ea typeface="Passion One"/>
                <a:cs typeface="Passion One"/>
                <a:sym typeface="Passion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assion One"/>
              <a:buNone/>
              <a:defRPr sz="4000">
                <a:latin typeface="Passion One"/>
                <a:ea typeface="Passion One"/>
                <a:cs typeface="Passion One"/>
                <a:sym typeface="Passion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assion One"/>
              <a:buNone/>
              <a:defRPr sz="4000">
                <a:latin typeface="Passion One"/>
                <a:ea typeface="Passion One"/>
                <a:cs typeface="Passion One"/>
                <a:sym typeface="Passion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assion One"/>
              <a:buNone/>
              <a:defRPr sz="4000">
                <a:latin typeface="Passion One"/>
                <a:ea typeface="Passion One"/>
                <a:cs typeface="Passion One"/>
                <a:sym typeface="Passion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assion One"/>
              <a:buNone/>
              <a:defRPr sz="4000">
                <a:latin typeface="Passion One"/>
                <a:ea typeface="Passion One"/>
                <a:cs typeface="Passion One"/>
                <a:sym typeface="Passion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assion One"/>
              <a:buNone/>
              <a:defRPr sz="4000"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/>
        </p:txBody>
      </p:sp>
      <p:sp>
        <p:nvSpPr>
          <p:cNvPr id="108" name="Google Shape;108;g36b0670e840_1_134"/>
          <p:cNvSpPr/>
          <p:nvPr/>
        </p:nvSpPr>
        <p:spPr>
          <a:xfrm flipH="1" rot="-9992303">
            <a:off x="157938" y="443966"/>
            <a:ext cx="1326871" cy="1513491"/>
          </a:xfrm>
          <a:custGeom>
            <a:rect b="b" l="l" r="r" t="t"/>
            <a:pathLst>
              <a:path extrusionOk="0" h="21305" w="18678">
                <a:moveTo>
                  <a:pt x="13889" y="1"/>
                </a:moveTo>
                <a:cubicBezTo>
                  <a:pt x="10508" y="1"/>
                  <a:pt x="5495" y="3203"/>
                  <a:pt x="2946" y="8639"/>
                </a:cubicBezTo>
                <a:cubicBezTo>
                  <a:pt x="110" y="14694"/>
                  <a:pt x="0" y="21304"/>
                  <a:pt x="3025" y="21304"/>
                </a:cubicBezTo>
                <a:cubicBezTo>
                  <a:pt x="3080" y="21304"/>
                  <a:pt x="3136" y="21302"/>
                  <a:pt x="3193" y="21298"/>
                </a:cubicBezTo>
                <a:cubicBezTo>
                  <a:pt x="6388" y="21051"/>
                  <a:pt x="7863" y="14543"/>
                  <a:pt x="9954" y="12081"/>
                </a:cubicBezTo>
                <a:cubicBezTo>
                  <a:pt x="14871" y="7781"/>
                  <a:pt x="18677" y="6424"/>
                  <a:pt x="17079" y="2007"/>
                </a:cubicBezTo>
                <a:cubicBezTo>
                  <a:pt x="16586" y="641"/>
                  <a:pt x="15400" y="1"/>
                  <a:pt x="13889" y="1"/>
                </a:cubicBezTo>
                <a:close/>
              </a:path>
            </a:pathLst>
          </a:custGeom>
          <a:solidFill>
            <a:srgbClr val="C3DC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6b0670e840_1_134"/>
          <p:cNvSpPr/>
          <p:nvPr/>
        </p:nvSpPr>
        <p:spPr>
          <a:xfrm flipH="1" rot="2159026">
            <a:off x="161820" y="2044311"/>
            <a:ext cx="802407" cy="483926"/>
          </a:xfrm>
          <a:custGeom>
            <a:rect b="b" l="l" r="r" t="t"/>
            <a:pathLst>
              <a:path extrusionOk="0" h="7855" w="17577">
                <a:moveTo>
                  <a:pt x="9135" y="1"/>
                </a:moveTo>
                <a:cubicBezTo>
                  <a:pt x="8608" y="1"/>
                  <a:pt x="8104" y="57"/>
                  <a:pt x="7654" y="163"/>
                </a:cubicBezTo>
                <a:cubicBezTo>
                  <a:pt x="5301" y="725"/>
                  <a:pt x="1" y="2199"/>
                  <a:pt x="1207" y="3866"/>
                </a:cubicBezTo>
                <a:cubicBezTo>
                  <a:pt x="2596" y="5787"/>
                  <a:pt x="5256" y="7854"/>
                  <a:pt x="10059" y="7854"/>
                </a:cubicBezTo>
                <a:cubicBezTo>
                  <a:pt x="10570" y="7854"/>
                  <a:pt x="11105" y="7831"/>
                  <a:pt x="11665" y="7782"/>
                </a:cubicBezTo>
                <a:cubicBezTo>
                  <a:pt x="17083" y="7301"/>
                  <a:pt x="17577" y="1349"/>
                  <a:pt x="10445" y="115"/>
                </a:cubicBezTo>
                <a:cubicBezTo>
                  <a:pt x="10005" y="38"/>
                  <a:pt x="9563" y="1"/>
                  <a:pt x="9135" y="1"/>
                </a:cubicBezTo>
                <a:close/>
              </a:path>
            </a:pathLst>
          </a:custGeom>
          <a:solidFill>
            <a:srgbClr val="C3DC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/>
        </p:nvSpPr>
        <p:spPr>
          <a:xfrm>
            <a:off x="-12" y="273175"/>
            <a:ext cx="12192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IELTS SPEAKING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3"/>
          <p:cNvGrpSpPr/>
          <p:nvPr/>
        </p:nvGrpSpPr>
        <p:grpSpPr>
          <a:xfrm>
            <a:off x="3033138" y="2134903"/>
            <a:ext cx="6125723" cy="4459327"/>
            <a:chOff x="293113" y="1303"/>
            <a:chExt cx="6125723" cy="4459327"/>
          </a:xfrm>
        </p:grpSpPr>
        <p:sp>
          <p:nvSpPr>
            <p:cNvPr id="116" name="Google Shape;116;p3"/>
            <p:cNvSpPr/>
            <p:nvPr/>
          </p:nvSpPr>
          <p:spPr>
            <a:xfrm>
              <a:off x="2200719" y="1303"/>
              <a:ext cx="2310510" cy="1155255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"/>
            <p:cNvSpPr txBox="1"/>
            <p:nvPr/>
          </p:nvSpPr>
          <p:spPr>
            <a:xfrm>
              <a:off x="2234555" y="35139"/>
              <a:ext cx="2242838" cy="1087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137150" spcFirstLastPara="1" rIns="137150" wrap="square" tIns="13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imes New Roman"/>
                <a:buNone/>
              </a:pPr>
              <a:r>
                <a:rPr b="1" i="0" lang="en-US" sz="3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Part 1</a:t>
              </a:r>
              <a:endPara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" name="Google Shape;118;p3"/>
            <p:cNvSpPr/>
            <p:nvPr/>
          </p:nvSpPr>
          <p:spPr>
            <a:xfrm rot="3600000">
              <a:off x="4235151" y="2092153"/>
              <a:ext cx="1845524" cy="404339"/>
            </a:xfrm>
            <a:prstGeom prst="leftRightArrow">
              <a:avLst>
                <a:gd fmla="val 60000" name="adj1"/>
                <a:gd fmla="val 5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3"/>
            <p:cNvSpPr txBox="1"/>
            <p:nvPr/>
          </p:nvSpPr>
          <p:spPr>
            <a:xfrm rot="3600000">
              <a:off x="4356453" y="2173021"/>
              <a:ext cx="1602920" cy="2426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4108326" y="3305375"/>
              <a:ext cx="2310510" cy="1155255"/>
            </a:xfrm>
            <a:prstGeom prst="roundRect">
              <a:avLst>
                <a:gd fmla="val 10000" name="adj"/>
              </a:avLst>
            </a:prstGeom>
            <a:solidFill>
              <a:schemeClr val="accent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 txBox="1"/>
            <p:nvPr/>
          </p:nvSpPr>
          <p:spPr>
            <a:xfrm>
              <a:off x="4142162" y="3339211"/>
              <a:ext cx="2242838" cy="1087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137150" spcFirstLastPara="1" rIns="137150" wrap="square" tIns="13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imes New Roman"/>
                <a:buNone/>
              </a:pPr>
              <a:r>
                <a:rPr b="1" i="0" lang="en-US" sz="3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Part 3</a:t>
              </a:r>
              <a:endPara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" name="Google Shape;122;p3"/>
            <p:cNvSpPr/>
            <p:nvPr/>
          </p:nvSpPr>
          <p:spPr>
            <a:xfrm rot="10800000">
              <a:off x="2593975" y="3680833"/>
              <a:ext cx="1523999" cy="404339"/>
            </a:xfrm>
            <a:prstGeom prst="leftRightArrow">
              <a:avLst>
                <a:gd fmla="val 60000" name="adj1"/>
                <a:gd fmla="val 5000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"/>
            <p:cNvSpPr txBox="1"/>
            <p:nvPr/>
          </p:nvSpPr>
          <p:spPr>
            <a:xfrm>
              <a:off x="2715277" y="3761701"/>
              <a:ext cx="1281395" cy="2426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293113" y="3305375"/>
              <a:ext cx="2310510" cy="1155255"/>
            </a:xfrm>
            <a:prstGeom prst="roundRect">
              <a:avLst>
                <a:gd fmla="val 10000" name="adj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"/>
            <p:cNvSpPr txBox="1"/>
            <p:nvPr/>
          </p:nvSpPr>
          <p:spPr>
            <a:xfrm>
              <a:off x="326949" y="3339211"/>
              <a:ext cx="2242838" cy="1087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137150" spcFirstLastPara="1" rIns="137150" wrap="square" tIns="13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imes New Roman"/>
                <a:buNone/>
              </a:pPr>
              <a:r>
                <a:rPr b="1" i="0" lang="en-US" sz="3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Part 2</a:t>
              </a:r>
              <a:endPara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 rot="-3600000">
              <a:off x="615192" y="2098012"/>
              <a:ext cx="1845524" cy="404339"/>
            </a:xfrm>
            <a:prstGeom prst="leftRightArrow">
              <a:avLst>
                <a:gd fmla="val 60000" name="adj1"/>
                <a:gd fmla="val 50000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"/>
            <p:cNvSpPr txBox="1"/>
            <p:nvPr/>
          </p:nvSpPr>
          <p:spPr>
            <a:xfrm rot="-3600000">
              <a:off x="736494" y="2178880"/>
              <a:ext cx="1602920" cy="2426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28" name="Google Shape;128;p3"/>
          <p:cNvSpPr txBox="1"/>
          <p:nvPr/>
        </p:nvSpPr>
        <p:spPr>
          <a:xfrm>
            <a:off x="7239000" y="2416314"/>
            <a:ext cx="28924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– 5 minutes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3175" y="5486400"/>
            <a:ext cx="304482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– 4 minutes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minute preparation)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9142412" y="5701843"/>
            <a:ext cx="28924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– 5 minutes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4649787" y="3657600"/>
            <a:ext cx="289242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– 14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minutes</a:t>
            </a:r>
            <a:endParaRPr b="0" i="0" sz="36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strips dir="rd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/>
        </p:nvSpPr>
        <p:spPr>
          <a:xfrm>
            <a:off x="0" y="457200"/>
            <a:ext cx="121920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7" name="Google Shape;137;p4"/>
          <p:cNvGraphicFramePr/>
          <p:nvPr/>
        </p:nvGraphicFramePr>
        <p:xfrm>
          <a:off x="235131" y="1907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{AF621E1A-DF5E-4321-8778-587ADE551405}</a:tableStyleId>
              </a:tblPr>
              <a:tblGrid>
                <a:gridCol w="1956175"/>
                <a:gridCol w="7432775"/>
                <a:gridCol w="2339325"/>
              </a:tblGrid>
              <a:tr h="149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sng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 1: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Introduction and Interview</a:t>
                      </a:r>
                      <a:endParaRPr b="1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4-5 minutes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solidFill>
                      <a:schemeClr val="lt2"/>
                    </a:solidFill>
                  </a:tcPr>
                </a:tc>
              </a:tr>
              <a:tr h="149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sng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 2: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Individual long turn</a:t>
                      </a:r>
                      <a:endParaRPr b="1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3-4 minutes (including 1 minute preparation time)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solidFill>
                      <a:schemeClr val="lt2"/>
                    </a:solidFill>
                  </a:tcPr>
                </a:tc>
              </a:tr>
              <a:tr h="149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sng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 3: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Two-way discussion</a:t>
                      </a:r>
                      <a:endParaRPr b="1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4-5 minutes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4"/>
          <p:cNvSpPr txBox="1"/>
          <p:nvPr/>
        </p:nvSpPr>
        <p:spPr>
          <a:xfrm>
            <a:off x="2228193" y="2590800"/>
            <a:ext cx="73914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Examiner introduces him/herself and checks your name.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examiner then asks you questions on </a:t>
            </a:r>
            <a:r>
              <a:rPr b="0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topics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2201917" y="3641229"/>
            <a:ext cx="739140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Examiner gives you </a:t>
            </a:r>
            <a:r>
              <a:rPr b="0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written task card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You have </a:t>
            </a:r>
            <a:r>
              <a:rPr b="0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minute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think (take notes) before you have to speak for </a:t>
            </a:r>
            <a:r>
              <a:rPr b="0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1–2 minutes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Examiner asks </a:t>
            </a:r>
            <a:r>
              <a:rPr b="0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or two questions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 the end of your talk.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2201917" y="5334000"/>
            <a:ext cx="73914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 with the examiner more abstract </a:t>
            </a:r>
            <a:r>
              <a:rPr b="0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issues and concepts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which are thematically </a:t>
            </a:r>
            <a:r>
              <a:rPr b="0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 to the topic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your talk in </a:t>
            </a:r>
            <a:r>
              <a:rPr b="0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2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strips dir="rd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/>
          <p:nvPr/>
        </p:nvSpPr>
        <p:spPr>
          <a:xfrm>
            <a:off x="0" y="457200"/>
            <a:ext cx="12192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533400" y="2057400"/>
            <a:ext cx="1135380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Last for 4 – 5 minutes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Usually have 2-3 topics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topic usually has 3-4 questions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⇒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should answer each question from 2 to 3 sentences.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268014" y="4114801"/>
            <a:ext cx="2133600" cy="52322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Countryside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268014" y="4838701"/>
            <a:ext cx="2133600" cy="52322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Hometown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268014" y="5562601"/>
            <a:ext cx="2133600" cy="52322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2677510" y="4114800"/>
            <a:ext cx="2133600" cy="52322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Walking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2677510" y="4838700"/>
            <a:ext cx="2133600" cy="52322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Languages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2677510" y="5562600"/>
            <a:ext cx="2133600" cy="52322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Laugh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5087006" y="4128076"/>
            <a:ext cx="2133600" cy="52322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5087006" y="4851976"/>
            <a:ext cx="2133600" cy="52322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Photos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5087006" y="5575876"/>
            <a:ext cx="2133600" cy="52322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Animals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7496502" y="4128075"/>
            <a:ext cx="2133600" cy="52322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Music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7496502" y="4851975"/>
            <a:ext cx="2133600" cy="52322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7496502" y="5575875"/>
            <a:ext cx="2133600" cy="52322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Friends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9906000" y="4128076"/>
            <a:ext cx="2133600" cy="52322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Patience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9906000" y="4851976"/>
            <a:ext cx="2133600" cy="52322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Haircut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9906000" y="5575876"/>
            <a:ext cx="2133600" cy="52322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Travel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strips dir="rd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 txBox="1"/>
          <p:nvPr/>
        </p:nvSpPr>
        <p:spPr>
          <a:xfrm>
            <a:off x="0" y="476071"/>
            <a:ext cx="12192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1 SAMPLE</a:t>
            </a:r>
            <a:endParaRPr b="0" i="0" sz="6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914400" y="1752600"/>
            <a:ext cx="10287000" cy="4293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E75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FRIENDS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kinds of people do you like to make friends with?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you think you are a good friend for others?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 you think makes good friends?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you keep in contact with friends from your childhood?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strips dir="rd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 txBox="1"/>
          <p:nvPr/>
        </p:nvSpPr>
        <p:spPr>
          <a:xfrm>
            <a:off x="0" y="457200"/>
            <a:ext cx="12192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533400" y="2057400"/>
            <a:ext cx="1135380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Last for 3 – 4 minutes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are given a paper and a pen to prepare for 1 minute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topic has 4 leading questions that you should cover in the speech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say other points relating to the topic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Don’t speak off topic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Speak for 2 minutes.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6906610" y="4114800"/>
            <a:ext cx="4913586" cy="461665"/>
          </a:xfrm>
          <a:prstGeom prst="rect">
            <a:avLst/>
          </a:prstGeom>
          <a:solidFill>
            <a:srgbClr val="0070C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Describe a practical skill you learned.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4518134" y="5486400"/>
            <a:ext cx="7302062" cy="461665"/>
          </a:xfrm>
          <a:prstGeom prst="rect">
            <a:avLst/>
          </a:prstGeom>
          <a:solidFill>
            <a:srgbClr val="0070C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Describe a film you would like to share with your friends.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6010603" y="4800600"/>
            <a:ext cx="5809593" cy="461665"/>
          </a:xfrm>
          <a:prstGeom prst="rect">
            <a:avLst/>
          </a:prstGeom>
          <a:solidFill>
            <a:srgbClr val="0070C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Describe a photograph you like in your room.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3733800" y="6172200"/>
            <a:ext cx="8086396" cy="461665"/>
          </a:xfrm>
          <a:prstGeom prst="rect">
            <a:avLst/>
          </a:prstGeom>
          <a:solidFill>
            <a:srgbClr val="0070C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Describe an occasion when you met someone for the first time.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strips dir="rd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 txBox="1"/>
          <p:nvPr/>
        </p:nvSpPr>
        <p:spPr>
          <a:xfrm>
            <a:off x="0" y="476071"/>
            <a:ext cx="12192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2 SAMPLE</a:t>
            </a:r>
            <a:endParaRPr b="0" i="0" sz="7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914400" y="2025908"/>
            <a:ext cx="10287000" cy="443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E75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SPECIAL DAY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Describe a special day that you remember well.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should say: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3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you were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3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Who you were with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3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you did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3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 why you remember it well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strips dir="rd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 txBox="1"/>
          <p:nvPr/>
        </p:nvSpPr>
        <p:spPr>
          <a:xfrm>
            <a:off x="0" y="457200"/>
            <a:ext cx="12192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533400" y="2667000"/>
            <a:ext cx="11353800" cy="2600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Last for 4 – 5 minutes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questions are connected to the topic in part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questions are much less personal and more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questions are relatively easy at the start and then get more difficult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strips dir="rd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 txBox="1"/>
          <p:nvPr/>
        </p:nvSpPr>
        <p:spPr>
          <a:xfrm>
            <a:off x="0" y="476071"/>
            <a:ext cx="12192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3 SAMPLE</a:t>
            </a:r>
            <a:endParaRPr b="0" i="0" sz="6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152400" y="2133600"/>
            <a:ext cx="12192000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2E75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SPECIAL DAY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people spend too much money on their birthday parties or weddings?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much do you think people should spend on their birthday parties or weddings?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is the better way to retain memories, by videos or photos?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can forgetful people remember things better?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strips dir="rd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 txBox="1"/>
          <p:nvPr/>
        </p:nvSpPr>
        <p:spPr>
          <a:xfrm>
            <a:off x="0" y="476071"/>
            <a:ext cx="121920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RECALLING QUESTIONS</a:t>
            </a:r>
            <a:endParaRPr b="0" i="0" sz="6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76200" y="2667000"/>
            <a:ext cx="11963400" cy="29238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part (one, two, or three) gives preparation time before you give your answer?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part is like a conversation with the examiner?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part requires you to speak about a general, abstract topic rather than personal topic?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part focuses on every day’s topic?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part requires you to talk for a few minutes on a single topic relating to your own experience?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strips dir="rd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/>
          <p:nvPr/>
        </p:nvSpPr>
        <p:spPr>
          <a:xfrm>
            <a:off x="0" y="240940"/>
            <a:ext cx="12192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CRITERIA</a:t>
            </a:r>
            <a:endParaRPr b="0" i="0" sz="7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7" name="Google Shape;207;p12"/>
          <p:cNvGrpSpPr/>
          <p:nvPr/>
        </p:nvGrpSpPr>
        <p:grpSpPr>
          <a:xfrm>
            <a:off x="1447670" y="2057400"/>
            <a:ext cx="9296534" cy="4580467"/>
            <a:chOff x="1066670" y="0"/>
            <a:chExt cx="9296534" cy="4580467"/>
          </a:xfrm>
        </p:grpSpPr>
        <p:sp>
          <p:nvSpPr>
            <p:cNvPr id="208" name="Google Shape;208;p12"/>
            <p:cNvSpPr/>
            <p:nvPr/>
          </p:nvSpPr>
          <p:spPr>
            <a:xfrm>
              <a:off x="3424766" y="0"/>
              <a:ext cx="4580467" cy="4580467"/>
            </a:xfrm>
            <a:prstGeom prst="diamond">
              <a:avLst/>
            </a:pr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2"/>
            <p:cNvSpPr/>
            <p:nvPr/>
          </p:nvSpPr>
          <p:spPr>
            <a:xfrm>
              <a:off x="1066795" y="435144"/>
              <a:ext cx="4172202" cy="1786382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2"/>
            <p:cNvSpPr txBox="1"/>
            <p:nvPr/>
          </p:nvSpPr>
          <p:spPr>
            <a:xfrm>
              <a:off x="1153999" y="522348"/>
              <a:ext cx="3997794" cy="1611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Times New Roman"/>
                <a:buNone/>
              </a:pPr>
              <a:r>
                <a:rPr b="1" i="0" lang="en-US" sz="3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Fluency &amp; Coherence</a:t>
              </a:r>
              <a:endParaRPr b="1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1" name="Google Shape;211;p12"/>
            <p:cNvSpPr/>
            <p:nvPr/>
          </p:nvSpPr>
          <p:spPr>
            <a:xfrm>
              <a:off x="6172191" y="435144"/>
              <a:ext cx="4172202" cy="1786382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2"/>
            <p:cNvSpPr txBox="1"/>
            <p:nvPr/>
          </p:nvSpPr>
          <p:spPr>
            <a:xfrm>
              <a:off x="6259395" y="522348"/>
              <a:ext cx="3997794" cy="1611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Times New Roman"/>
                <a:buNone/>
              </a:pPr>
              <a:r>
                <a:rPr b="1" i="0" lang="en-US" sz="3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Lexical Resource</a:t>
              </a:r>
              <a:endParaRPr b="1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3" name="Google Shape;213;p12"/>
            <p:cNvSpPr/>
            <p:nvPr/>
          </p:nvSpPr>
          <p:spPr>
            <a:xfrm>
              <a:off x="1066670" y="2358940"/>
              <a:ext cx="4172202" cy="1786382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2"/>
            <p:cNvSpPr txBox="1"/>
            <p:nvPr/>
          </p:nvSpPr>
          <p:spPr>
            <a:xfrm>
              <a:off x="1153874" y="2446144"/>
              <a:ext cx="3997794" cy="1611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Times New Roman"/>
                <a:buNone/>
              </a:pPr>
              <a:r>
                <a:rPr b="1" i="0" lang="en-US" sz="3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Gramma</a:t>
              </a:r>
              <a:r>
                <a:rPr b="1" lang="en-US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tical</a:t>
              </a:r>
              <a:r>
                <a:rPr b="1" i="0" lang="en-US" sz="3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Range &amp; Accuracy</a:t>
              </a:r>
              <a:endParaRPr b="1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" name="Google Shape;215;p12"/>
            <p:cNvSpPr/>
            <p:nvPr/>
          </p:nvSpPr>
          <p:spPr>
            <a:xfrm>
              <a:off x="6191002" y="2438398"/>
              <a:ext cx="4172202" cy="1786382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2"/>
            <p:cNvSpPr txBox="1"/>
            <p:nvPr/>
          </p:nvSpPr>
          <p:spPr>
            <a:xfrm>
              <a:off x="6278206" y="2525602"/>
              <a:ext cx="3997794" cy="1611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Times New Roman"/>
                <a:buNone/>
              </a:pPr>
              <a:r>
                <a:rPr b="1" i="0" lang="en-US" sz="3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Pronunciation</a:t>
              </a:r>
              <a:endParaRPr b="1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ransition spd="slow">
    <p:strips dir="rd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"/>
          <p:cNvSpPr txBox="1"/>
          <p:nvPr/>
        </p:nvSpPr>
        <p:spPr>
          <a:xfrm>
            <a:off x="0" y="476071"/>
            <a:ext cx="12192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FLUENCY</a:t>
            </a:r>
            <a:endParaRPr b="0" i="0" sz="7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2" name="Google Shape;222;p13"/>
          <p:cNvGrpSpPr/>
          <p:nvPr/>
        </p:nvGrpSpPr>
        <p:grpSpPr>
          <a:xfrm>
            <a:off x="567509" y="1949157"/>
            <a:ext cx="10680701" cy="4626308"/>
            <a:chOff x="0" y="169223"/>
            <a:chExt cx="10680701" cy="4626308"/>
          </a:xfrm>
        </p:grpSpPr>
        <p:sp>
          <p:nvSpPr>
            <p:cNvPr id="223" name="Google Shape;223;p13"/>
            <p:cNvSpPr/>
            <p:nvPr/>
          </p:nvSpPr>
          <p:spPr>
            <a:xfrm>
              <a:off x="4253537" y="2633150"/>
              <a:ext cx="2274257" cy="2162381"/>
            </a:xfrm>
            <a:prstGeom prst="ellipse">
              <a:avLst/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3"/>
            <p:cNvSpPr txBox="1"/>
            <p:nvPr/>
          </p:nvSpPr>
          <p:spPr>
            <a:xfrm>
              <a:off x="4586594" y="2949823"/>
              <a:ext cx="1608143" cy="15290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imes New Roman"/>
                <a:buNone/>
              </a:pPr>
              <a:r>
                <a:rPr b="1" i="0" lang="en-US" sz="3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Fluency</a:t>
              </a:r>
              <a:endPara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" name="Google Shape;225;p13"/>
            <p:cNvSpPr/>
            <p:nvPr/>
          </p:nvSpPr>
          <p:spPr>
            <a:xfrm rot="10571883">
              <a:off x="1716969" y="3585049"/>
              <a:ext cx="2402461" cy="587195"/>
            </a:xfrm>
            <a:prstGeom prst="lef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FFC647"/>
                </a:gs>
                <a:gs pos="50000">
                  <a:srgbClr val="FFC600"/>
                </a:gs>
                <a:gs pos="100000">
                  <a:srgbClr val="E3B4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3"/>
            <p:cNvSpPr/>
            <p:nvPr/>
          </p:nvSpPr>
          <p:spPr>
            <a:xfrm>
              <a:off x="75711" y="3175371"/>
              <a:ext cx="3287802" cy="1565853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FFC647"/>
                </a:gs>
                <a:gs pos="50000">
                  <a:srgbClr val="FFC600"/>
                </a:gs>
                <a:gs pos="100000">
                  <a:srgbClr val="E3B4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3"/>
            <p:cNvSpPr txBox="1"/>
            <p:nvPr/>
          </p:nvSpPr>
          <p:spPr>
            <a:xfrm>
              <a:off x="121573" y="3221233"/>
              <a:ext cx="3196078" cy="14741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Able to be understood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p13"/>
            <p:cNvSpPr/>
            <p:nvPr/>
          </p:nvSpPr>
          <p:spPr>
            <a:xfrm rot="-9307435">
              <a:off x="1512238" y="2280400"/>
              <a:ext cx="2838161" cy="587195"/>
            </a:xfrm>
            <a:prstGeom prst="lef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92F448"/>
                </a:gs>
                <a:gs pos="50000">
                  <a:srgbClr val="85FB03"/>
                </a:gs>
                <a:gs pos="100000">
                  <a:srgbClr val="75E3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3"/>
            <p:cNvSpPr/>
            <p:nvPr/>
          </p:nvSpPr>
          <p:spPr>
            <a:xfrm>
              <a:off x="0" y="1194124"/>
              <a:ext cx="3287802" cy="1565853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92F448"/>
                </a:gs>
                <a:gs pos="50000">
                  <a:srgbClr val="85FB03"/>
                </a:gs>
                <a:gs pos="100000">
                  <a:srgbClr val="75E3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3"/>
            <p:cNvSpPr txBox="1"/>
            <p:nvPr/>
          </p:nvSpPr>
          <p:spPr>
            <a:xfrm>
              <a:off x="45862" y="1239986"/>
              <a:ext cx="3196078" cy="14741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Talking without self-correction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p13"/>
            <p:cNvSpPr/>
            <p:nvPr/>
          </p:nvSpPr>
          <p:spPr>
            <a:xfrm rot="-5442499">
              <a:off x="4571969" y="1452860"/>
              <a:ext cx="1588737" cy="587195"/>
            </a:xfrm>
            <a:prstGeom prst="lef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4DE560"/>
                </a:gs>
                <a:gs pos="50000">
                  <a:srgbClr val="16EA3F"/>
                </a:gs>
                <a:gs pos="100000">
                  <a:srgbClr val="08D932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3"/>
            <p:cNvSpPr/>
            <p:nvPr/>
          </p:nvSpPr>
          <p:spPr>
            <a:xfrm>
              <a:off x="3766139" y="169223"/>
              <a:ext cx="3180757" cy="1565853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4DE560"/>
                </a:gs>
                <a:gs pos="50000">
                  <a:srgbClr val="16EA3F"/>
                </a:gs>
                <a:gs pos="100000">
                  <a:srgbClr val="08D932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3"/>
            <p:cNvSpPr txBox="1"/>
            <p:nvPr/>
          </p:nvSpPr>
          <p:spPr>
            <a:xfrm>
              <a:off x="3812001" y="215085"/>
              <a:ext cx="3089033" cy="14741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Talking at length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p13"/>
            <p:cNvSpPr/>
            <p:nvPr/>
          </p:nvSpPr>
          <p:spPr>
            <a:xfrm rot="-1530603">
              <a:off x="6417371" y="2275246"/>
              <a:ext cx="2747596" cy="587195"/>
            </a:xfrm>
            <a:prstGeom prst="lef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54D7CC"/>
                </a:gs>
                <a:gs pos="50000">
                  <a:srgbClr val="27DACB"/>
                </a:gs>
                <a:gs pos="100000">
                  <a:srgbClr val="19C8B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3"/>
            <p:cNvSpPr/>
            <p:nvPr/>
          </p:nvSpPr>
          <p:spPr>
            <a:xfrm>
              <a:off x="7381370" y="1194264"/>
              <a:ext cx="3299331" cy="1565853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4D7CC"/>
                </a:gs>
                <a:gs pos="50000">
                  <a:srgbClr val="27DACB"/>
                </a:gs>
                <a:gs pos="100000">
                  <a:srgbClr val="19C8B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3"/>
            <p:cNvSpPr txBox="1"/>
            <p:nvPr/>
          </p:nvSpPr>
          <p:spPr>
            <a:xfrm>
              <a:off x="7427232" y="1240126"/>
              <a:ext cx="3207607" cy="14741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Talking without pauses or hesitations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p13"/>
            <p:cNvSpPr/>
            <p:nvPr/>
          </p:nvSpPr>
          <p:spPr>
            <a:xfrm rot="237489">
              <a:off x="6653651" y="3586521"/>
              <a:ext cx="2265791" cy="587195"/>
            </a:xfrm>
            <a:prstGeom prst="lef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5E80C9"/>
                </a:gs>
                <a:gs pos="50000">
                  <a:srgbClr val="3B6FC9"/>
                </a:gs>
                <a:gs pos="100000">
                  <a:srgbClr val="2E5FB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3"/>
            <p:cNvSpPr/>
            <p:nvPr/>
          </p:nvSpPr>
          <p:spPr>
            <a:xfrm>
              <a:off x="7267075" y="3175393"/>
              <a:ext cx="3299331" cy="1565853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0C9"/>
                </a:gs>
                <a:gs pos="50000">
                  <a:srgbClr val="3B6FC9"/>
                </a:gs>
                <a:gs pos="100000">
                  <a:srgbClr val="2E5FB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3"/>
            <p:cNvSpPr txBox="1"/>
            <p:nvPr/>
          </p:nvSpPr>
          <p:spPr>
            <a:xfrm>
              <a:off x="7312937" y="3221255"/>
              <a:ext cx="3207607" cy="14741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Using linking devices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ransition spd="slow">
    <p:strips dir="rd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"/>
          <p:cNvSpPr txBox="1"/>
          <p:nvPr/>
        </p:nvSpPr>
        <p:spPr>
          <a:xfrm>
            <a:off x="0" y="476071"/>
            <a:ext cx="12192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LEXICAL  RESOURCE</a:t>
            </a:r>
            <a:endParaRPr b="0" i="0" sz="7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5" name="Google Shape;245;p14"/>
          <p:cNvGrpSpPr/>
          <p:nvPr/>
        </p:nvGrpSpPr>
        <p:grpSpPr>
          <a:xfrm>
            <a:off x="1295400" y="2438400"/>
            <a:ext cx="9525000" cy="3886200"/>
            <a:chOff x="0" y="0"/>
            <a:chExt cx="9525000" cy="3886200"/>
          </a:xfrm>
        </p:grpSpPr>
        <p:sp>
          <p:nvSpPr>
            <p:cNvPr id="246" name="Google Shape;246;p14"/>
            <p:cNvSpPr/>
            <p:nvPr/>
          </p:nvSpPr>
          <p:spPr>
            <a:xfrm rot="-5400000">
              <a:off x="1409700" y="-1409700"/>
              <a:ext cx="1943100" cy="4762500"/>
            </a:xfrm>
            <a:prstGeom prst="round1Rect">
              <a:avLst>
                <a:gd fmla="val 16667" name="adj"/>
              </a:avLst>
            </a:prstGeom>
            <a:gradFill>
              <a:gsLst>
                <a:gs pos="0">
                  <a:srgbClr val="FFDC9B"/>
                </a:gs>
                <a:gs pos="50000">
                  <a:srgbClr val="FFD68D"/>
                </a:gs>
                <a:gs pos="100000">
                  <a:srgbClr val="FFD47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4"/>
            <p:cNvSpPr txBox="1"/>
            <p:nvPr/>
          </p:nvSpPr>
          <p:spPr>
            <a:xfrm>
              <a:off x="0" y="0"/>
              <a:ext cx="4762500" cy="1457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575" lIns="227575" spcFirstLastPara="1" rIns="227575" wrap="square" tIns="227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Times New Roman"/>
                <a:buNone/>
              </a:pPr>
              <a:r>
                <a:rPr b="0" i="0" lang="en-US" sz="3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Using a range of words &amp; Paraphrasing</a:t>
              </a:r>
              <a:endPara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4762500" y="0"/>
              <a:ext cx="4762500" cy="1943100"/>
            </a:xfrm>
            <a:prstGeom prst="round1Rect">
              <a:avLst>
                <a:gd fmla="val 16667" name="adj"/>
              </a:avLst>
            </a:prstGeom>
            <a:gradFill>
              <a:gsLst>
                <a:gs pos="0">
                  <a:srgbClr val="A9F69C"/>
                </a:gs>
                <a:gs pos="50000">
                  <a:srgbClr val="9CF38E"/>
                </a:gs>
                <a:gs pos="100000">
                  <a:srgbClr val="8AF779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4"/>
            <p:cNvSpPr txBox="1"/>
            <p:nvPr/>
          </p:nvSpPr>
          <p:spPr>
            <a:xfrm>
              <a:off x="4762500" y="0"/>
              <a:ext cx="4762500" cy="1457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575" lIns="227575" spcFirstLastPara="1" rIns="227575" wrap="square" tIns="227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Times New Roman"/>
                <a:buNone/>
              </a:pPr>
              <a:r>
                <a:rPr b="0" i="0" lang="en-US" sz="3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Using collocations</a:t>
              </a:r>
              <a:endPara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0" name="Google Shape;250;p14"/>
            <p:cNvSpPr/>
            <p:nvPr/>
          </p:nvSpPr>
          <p:spPr>
            <a:xfrm rot="10800000">
              <a:off x="0" y="1943100"/>
              <a:ext cx="4762500" cy="1943100"/>
            </a:xfrm>
            <a:prstGeom prst="round1Rect">
              <a:avLst>
                <a:gd fmla="val 16667" name="adj"/>
              </a:avLst>
            </a:prstGeom>
            <a:gradFill>
              <a:gsLst>
                <a:gs pos="0">
                  <a:srgbClr val="A0EACA"/>
                </a:gs>
                <a:gs pos="50000">
                  <a:srgbClr val="92E5C1"/>
                </a:gs>
                <a:gs pos="100000">
                  <a:srgbClr val="7DE6B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4"/>
            <p:cNvSpPr txBox="1"/>
            <p:nvPr/>
          </p:nvSpPr>
          <p:spPr>
            <a:xfrm>
              <a:off x="0" y="2428875"/>
              <a:ext cx="4762500" cy="1457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575" lIns="227575" spcFirstLastPara="1" rIns="227575" wrap="square" tIns="227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Times New Roman"/>
                <a:buNone/>
              </a:pPr>
              <a:r>
                <a:rPr b="0" i="0" lang="en-US" sz="3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Using less common vocabulary</a:t>
              </a:r>
              <a:endPara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2" name="Google Shape;252;p14"/>
            <p:cNvSpPr/>
            <p:nvPr/>
          </p:nvSpPr>
          <p:spPr>
            <a:xfrm rot="5400000">
              <a:off x="6172199" y="533400"/>
              <a:ext cx="1943100" cy="4762500"/>
            </a:xfrm>
            <a:prstGeom prst="round1Rect">
              <a:avLst>
                <a:gd fmla="val 16667" name="adj"/>
              </a:avLst>
            </a:prstGeom>
            <a:gradFill>
              <a:gsLst>
                <a:gs pos="0">
                  <a:srgbClr val="A6B6DE"/>
                </a:gs>
                <a:gs pos="50000">
                  <a:srgbClr val="97A9D8"/>
                </a:gs>
                <a:gs pos="100000">
                  <a:srgbClr val="859CD6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4"/>
            <p:cNvSpPr txBox="1"/>
            <p:nvPr/>
          </p:nvSpPr>
          <p:spPr>
            <a:xfrm>
              <a:off x="4762500" y="2428874"/>
              <a:ext cx="4762500" cy="1457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575" lIns="227575" spcFirstLastPara="1" rIns="227575" wrap="square" tIns="227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Times New Roman"/>
                <a:buNone/>
              </a:pPr>
              <a:r>
                <a:rPr b="0" i="0" lang="en-US" sz="3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Avoiding errors</a:t>
              </a:r>
              <a:endPara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2878435" y="1316289"/>
              <a:ext cx="3768128" cy="125362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EFCF9"/>
                </a:gs>
                <a:gs pos="50000">
                  <a:srgbClr val="FFF5E8"/>
                </a:gs>
                <a:gs pos="100000">
                  <a:srgbClr val="FFF4E5"/>
                </a:gs>
              </a:gsLst>
              <a:lin ang="5400000" scaled="0"/>
            </a:gra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4"/>
            <p:cNvSpPr txBox="1"/>
            <p:nvPr/>
          </p:nvSpPr>
          <p:spPr>
            <a:xfrm>
              <a:off x="2939632" y="1377486"/>
              <a:ext cx="3645734" cy="1131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152400" spcFirstLastPara="1" rIns="152400" wrap="square" tIns="152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Times New Roman"/>
                <a:buNone/>
              </a:pPr>
              <a:r>
                <a:rPr b="1" i="0" lang="en-US" sz="4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Lexical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Times New Roman"/>
                <a:buNone/>
              </a:pPr>
              <a:r>
                <a:rPr b="1" i="0" lang="en-US" sz="4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Resource</a:t>
              </a:r>
              <a:endParaRPr b="1" i="0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ransition spd="slow">
    <p:strips dir="rd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"/>
          <p:cNvSpPr txBox="1"/>
          <p:nvPr/>
        </p:nvSpPr>
        <p:spPr>
          <a:xfrm>
            <a:off x="0" y="32657"/>
            <a:ext cx="12192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GRAMMA</a:t>
            </a:r>
            <a:r>
              <a:rPr lang="en-US" sz="5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TICAL</a:t>
            </a:r>
            <a:r>
              <a:rPr b="0" i="0" lang="en-US" sz="5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RANGE  &amp;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</a:t>
            </a:r>
            <a:endParaRPr b="0" i="0" sz="5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1" name="Google Shape;261;p15"/>
          <p:cNvGrpSpPr/>
          <p:nvPr/>
        </p:nvGrpSpPr>
        <p:grpSpPr>
          <a:xfrm>
            <a:off x="838200" y="2404053"/>
            <a:ext cx="10515599" cy="4304439"/>
            <a:chOff x="0" y="116844"/>
            <a:chExt cx="10515599" cy="4304439"/>
          </a:xfrm>
        </p:grpSpPr>
        <p:sp>
          <p:nvSpPr>
            <p:cNvPr id="262" name="Google Shape;262;p15"/>
            <p:cNvSpPr/>
            <p:nvPr/>
          </p:nvSpPr>
          <p:spPr>
            <a:xfrm>
              <a:off x="3071150" y="1595479"/>
              <a:ext cx="4373299" cy="136144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5"/>
            <p:cNvSpPr txBox="1"/>
            <p:nvPr/>
          </p:nvSpPr>
          <p:spPr>
            <a:xfrm>
              <a:off x="3137610" y="1661939"/>
              <a:ext cx="4240379" cy="1228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600" lIns="101600" spcFirstLastPara="1" rIns="101600" wrap="square" tIns="101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Times New Roman"/>
                <a:buNone/>
              </a:pPr>
              <a:r>
                <a:rPr b="1" i="0" lang="en-US" sz="4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Gramma</a:t>
              </a:r>
              <a:r>
                <a:rPr b="1" lang="en-US" sz="4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tical</a:t>
              </a:r>
              <a:r>
                <a:rPr b="1" i="0" lang="en-US" sz="4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range &amp; Accuracy</a:t>
              </a:r>
              <a:endParaRPr b="1" i="0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4" name="Google Shape;264;p15"/>
            <p:cNvSpPr/>
            <p:nvPr/>
          </p:nvSpPr>
          <p:spPr>
            <a:xfrm rot="-5400000">
              <a:off x="5071003" y="1408683"/>
              <a:ext cx="373592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265" name="Google Shape;265;p15"/>
            <p:cNvSpPr/>
            <p:nvPr/>
          </p:nvSpPr>
          <p:spPr>
            <a:xfrm>
              <a:off x="2895598" y="116844"/>
              <a:ext cx="4724403" cy="1105042"/>
            </a:xfrm>
            <a:prstGeom prst="roundRect">
              <a:avLst>
                <a:gd fmla="val 16667" name="adj"/>
              </a:avLst>
            </a:prstGeom>
            <a:solidFill>
              <a:srgbClr val="51EB1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5"/>
            <p:cNvSpPr txBox="1"/>
            <p:nvPr/>
          </p:nvSpPr>
          <p:spPr>
            <a:xfrm>
              <a:off x="2949542" y="170788"/>
              <a:ext cx="4616515" cy="997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Using a range of sentence structures</a:t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7" name="Google Shape;267;p15"/>
            <p:cNvSpPr/>
            <p:nvPr/>
          </p:nvSpPr>
          <p:spPr>
            <a:xfrm rot="1421795">
              <a:off x="6784029" y="3074873"/>
              <a:ext cx="586986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268" name="Google Shape;268;p15"/>
            <p:cNvSpPr/>
            <p:nvPr/>
          </p:nvSpPr>
          <p:spPr>
            <a:xfrm>
              <a:off x="6975898" y="3192825"/>
              <a:ext cx="3539701" cy="1228458"/>
            </a:xfrm>
            <a:prstGeom prst="roundRect">
              <a:avLst>
                <a:gd fmla="val 16667" name="adj"/>
              </a:avLst>
            </a:prstGeom>
            <a:solidFill>
              <a:srgbClr val="2CD79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5"/>
            <p:cNvSpPr txBox="1"/>
            <p:nvPr/>
          </p:nvSpPr>
          <p:spPr>
            <a:xfrm>
              <a:off x="7035866" y="3252793"/>
              <a:ext cx="3419765" cy="11085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Avoiding errors</a:t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0" name="Google Shape;270;p15"/>
            <p:cNvSpPr/>
            <p:nvPr/>
          </p:nvSpPr>
          <p:spPr>
            <a:xfrm rot="9378205">
              <a:off x="3144584" y="3074873"/>
              <a:ext cx="586986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271" name="Google Shape;271;p15"/>
            <p:cNvSpPr/>
            <p:nvPr/>
          </p:nvSpPr>
          <p:spPr>
            <a:xfrm>
              <a:off x="0" y="3192825"/>
              <a:ext cx="3539701" cy="1228458"/>
            </a:xfrm>
            <a:prstGeom prst="roundRect">
              <a:avLst>
                <a:gd fmla="val 16667" name="adj"/>
              </a:avLst>
            </a:prstGeom>
            <a:solidFill>
              <a:srgbClr val="4371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5"/>
            <p:cNvSpPr txBox="1"/>
            <p:nvPr/>
          </p:nvSpPr>
          <p:spPr>
            <a:xfrm>
              <a:off x="59968" y="3252793"/>
              <a:ext cx="3419765" cy="11085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1100" lIns="71100" spcFirstLastPara="1" rIns="71100" wrap="square" tIns="71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Using a range of grammar tenses</a:t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ransition spd="slow">
    <p:strips dir="rd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"/>
          <p:cNvSpPr txBox="1"/>
          <p:nvPr/>
        </p:nvSpPr>
        <p:spPr>
          <a:xfrm>
            <a:off x="0" y="476071"/>
            <a:ext cx="12192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PRONUNCIATION</a:t>
            </a:r>
            <a:endParaRPr b="0" i="0" sz="7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78" name="Google Shape;278;p16"/>
          <p:cNvGrpSpPr/>
          <p:nvPr/>
        </p:nvGrpSpPr>
        <p:grpSpPr>
          <a:xfrm>
            <a:off x="1371598" y="2125717"/>
            <a:ext cx="9448802" cy="4579883"/>
            <a:chOff x="228598" y="0"/>
            <a:chExt cx="9448802" cy="4579883"/>
          </a:xfrm>
        </p:grpSpPr>
        <p:sp>
          <p:nvSpPr>
            <p:cNvPr id="279" name="Google Shape;279;p16"/>
            <p:cNvSpPr/>
            <p:nvPr/>
          </p:nvSpPr>
          <p:spPr>
            <a:xfrm>
              <a:off x="228598" y="0"/>
              <a:ext cx="9448802" cy="4579883"/>
            </a:xfrm>
            <a:prstGeom prst="quadArrow">
              <a:avLst>
                <a:gd fmla="val 2000" name="adj1"/>
                <a:gd fmla="val 4000" name="adj2"/>
                <a:gd fmla="val 5000" name="adj3"/>
              </a:avLst>
            </a:prstGeom>
            <a:solidFill>
              <a:srgbClr val="FFE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6"/>
            <p:cNvSpPr/>
            <p:nvPr/>
          </p:nvSpPr>
          <p:spPr>
            <a:xfrm>
              <a:off x="514415" y="297692"/>
              <a:ext cx="4286184" cy="1831953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6"/>
            <p:cNvSpPr txBox="1"/>
            <p:nvPr/>
          </p:nvSpPr>
          <p:spPr>
            <a:xfrm>
              <a:off x="603844" y="387121"/>
              <a:ext cx="4107326" cy="16530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Able to be understood throughout the test</a:t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5105400" y="297692"/>
              <a:ext cx="4337588" cy="1831953"/>
            </a:xfrm>
            <a:prstGeom prst="roundRect">
              <a:avLst>
                <a:gd fmla="val 16667" name="adj"/>
              </a:avLst>
            </a:prstGeom>
            <a:solidFill>
              <a:srgbClr val="51EB1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6"/>
            <p:cNvSpPr txBox="1"/>
            <p:nvPr/>
          </p:nvSpPr>
          <p:spPr>
            <a:xfrm>
              <a:off x="5194829" y="387121"/>
              <a:ext cx="4158730" cy="16530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Able to use intonation</a:t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4" name="Google Shape;284;p16"/>
            <p:cNvSpPr/>
            <p:nvPr/>
          </p:nvSpPr>
          <p:spPr>
            <a:xfrm>
              <a:off x="514415" y="2450237"/>
              <a:ext cx="4286184" cy="1831953"/>
            </a:xfrm>
            <a:prstGeom prst="roundRect">
              <a:avLst>
                <a:gd fmla="val 16667" name="adj"/>
              </a:avLst>
            </a:prstGeom>
            <a:solidFill>
              <a:srgbClr val="2CD79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6"/>
            <p:cNvSpPr txBox="1"/>
            <p:nvPr/>
          </p:nvSpPr>
          <p:spPr>
            <a:xfrm>
              <a:off x="603844" y="2539666"/>
              <a:ext cx="4107326" cy="16530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Accent doesn’t affect understanding</a:t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6" name="Google Shape;286;p16"/>
            <p:cNvSpPr/>
            <p:nvPr/>
          </p:nvSpPr>
          <p:spPr>
            <a:xfrm>
              <a:off x="5105400" y="2450237"/>
              <a:ext cx="4337588" cy="1831953"/>
            </a:xfrm>
            <a:prstGeom prst="roundRect">
              <a:avLst>
                <a:gd fmla="val 16667" name="adj"/>
              </a:avLst>
            </a:prstGeom>
            <a:solidFill>
              <a:srgbClr val="4371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6"/>
            <p:cNvSpPr txBox="1"/>
            <p:nvPr/>
          </p:nvSpPr>
          <p:spPr>
            <a:xfrm>
              <a:off x="5194829" y="2539666"/>
              <a:ext cx="4158730" cy="16530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Accurate word and sound pronunciation</a:t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ransition spd="slow">
    <p:strips dir="rd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"/>
          <p:cNvSpPr txBox="1"/>
          <p:nvPr/>
        </p:nvSpPr>
        <p:spPr>
          <a:xfrm>
            <a:off x="0" y="476071"/>
            <a:ext cx="12192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DESCRIPTORS</a:t>
            </a:r>
            <a:endParaRPr b="0" i="0" sz="7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3" name="Google Shape;293;p17"/>
          <p:cNvPicPr preferRelativeResize="0"/>
          <p:nvPr/>
        </p:nvPicPr>
        <p:blipFill rotWithShape="1">
          <a:blip r:embed="rId3">
            <a:alphaModFix/>
          </a:blip>
          <a:srcRect b="36645" l="1939" r="3184" t="0"/>
          <a:stretch/>
        </p:blipFill>
        <p:spPr>
          <a:xfrm>
            <a:off x="20950" y="2144110"/>
            <a:ext cx="12150100" cy="4561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strips dir="rd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8"/>
          <p:cNvSpPr txBox="1"/>
          <p:nvPr/>
        </p:nvSpPr>
        <p:spPr>
          <a:xfrm>
            <a:off x="0" y="476071"/>
            <a:ext cx="12192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DESCRIPTORS</a:t>
            </a:r>
            <a:endParaRPr b="0" i="0" sz="7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p18"/>
          <p:cNvPicPr preferRelativeResize="0"/>
          <p:nvPr/>
        </p:nvPicPr>
        <p:blipFill rotWithShape="1">
          <a:blip r:embed="rId3">
            <a:alphaModFix/>
          </a:blip>
          <a:srcRect b="-5936" l="2298" r="2825" t="63161"/>
          <a:stretch/>
        </p:blipFill>
        <p:spPr>
          <a:xfrm>
            <a:off x="0" y="2590800"/>
            <a:ext cx="12192000" cy="3090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strips dir="rd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miro.medium.com/max/10886/1*DFaRILoVj4jv0AAVb6EmDw.jpeg" id="304" name="Google Shape;30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2599" y="0"/>
            <a:ext cx="122245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6b0670e840_1_0"/>
          <p:cNvSpPr txBox="1"/>
          <p:nvPr/>
        </p:nvSpPr>
        <p:spPr>
          <a:xfrm>
            <a:off x="609600" y="2603891"/>
            <a:ext cx="10972800" cy="6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  <a:latin typeface="Gothic A1"/>
                <a:ea typeface="Gothic A1"/>
                <a:cs typeface="Gothic A1"/>
                <a:sym typeface="Gothic A1"/>
              </a:rPr>
              <a:t>1. Where do you like to travel?</a:t>
            </a:r>
            <a:endParaRPr b="1" i="0" sz="1900" u="none" cap="none" strike="noStrike">
              <a:solidFill>
                <a:srgbClr val="000000"/>
              </a:solidFill>
            </a:endParaRPr>
          </a:p>
        </p:txBody>
      </p:sp>
      <p:sp>
        <p:nvSpPr>
          <p:cNvPr id="310" name="Google Shape;310;g36b0670e840_1_0"/>
          <p:cNvSpPr txBox="1"/>
          <p:nvPr/>
        </p:nvSpPr>
        <p:spPr>
          <a:xfrm>
            <a:off x="609598" y="3559633"/>
            <a:ext cx="10972800" cy="17853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Gothic A1"/>
                <a:ea typeface="Gothic A1"/>
                <a:cs typeface="Gothic A1"/>
                <a:sym typeface="Gothic A1"/>
              </a:rPr>
              <a:t>Short answer: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 I like to travel to the beach.</a:t>
            </a:r>
            <a:endParaRPr sz="2700"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US" sz="2700">
                <a:latin typeface="Gothic A1"/>
                <a:ea typeface="Gothic A1"/>
                <a:cs typeface="Gothic A1"/>
                <a:sym typeface="Gothic A1"/>
              </a:rPr>
              <a:t>Long answer: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 I like to travel to the beach </a:t>
            </a:r>
            <a:r>
              <a:rPr lang="en-US" sz="2700" u="sng">
                <a:latin typeface="Gothic A1"/>
                <a:ea typeface="Gothic A1"/>
                <a:cs typeface="Gothic A1"/>
                <a:sym typeface="Gothic A1"/>
              </a:rPr>
              <a:t>because I love relaxing by the sea, and it always makes me feel calm and refreshed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.</a:t>
            </a:r>
            <a:endParaRPr sz="2700">
              <a:solidFill>
                <a:schemeClr val="lt1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311" name="Google Shape;311;g36b0670e840_1_0"/>
          <p:cNvSpPr/>
          <p:nvPr/>
        </p:nvSpPr>
        <p:spPr>
          <a:xfrm>
            <a:off x="710400" y="409867"/>
            <a:ext cx="10771200" cy="1332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5300">
                <a:solidFill>
                  <a:srgbClr val="362F5D"/>
                </a:solidFill>
                <a:latin typeface="Passion One"/>
                <a:ea typeface="Passion One"/>
                <a:cs typeface="Passion One"/>
                <a:sym typeface="Passion One"/>
              </a:rPr>
              <a:t>Feelings &amp; Opinions</a:t>
            </a:r>
            <a:endParaRPr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6b0670e840_1_6"/>
          <p:cNvSpPr txBox="1"/>
          <p:nvPr/>
        </p:nvSpPr>
        <p:spPr>
          <a:xfrm>
            <a:off x="609600" y="2603891"/>
            <a:ext cx="10972800" cy="6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  <a:latin typeface="Gothic A1"/>
                <a:ea typeface="Gothic A1"/>
                <a:cs typeface="Gothic A1"/>
                <a:sym typeface="Gothic A1"/>
              </a:rPr>
              <a:t>2. Do you prefer traveling alone or with friends?</a:t>
            </a:r>
            <a:endParaRPr b="1" i="0" sz="1900" u="none" cap="none" strike="noStrike">
              <a:solidFill>
                <a:srgbClr val="000000"/>
              </a:solidFill>
            </a:endParaRPr>
          </a:p>
        </p:txBody>
      </p:sp>
      <p:sp>
        <p:nvSpPr>
          <p:cNvPr id="317" name="Google Shape;317;g36b0670e840_1_6"/>
          <p:cNvSpPr txBox="1"/>
          <p:nvPr/>
        </p:nvSpPr>
        <p:spPr>
          <a:xfrm>
            <a:off x="609598" y="3559633"/>
            <a:ext cx="10972800" cy="1785300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Gothic A1"/>
                <a:ea typeface="Gothic A1"/>
                <a:cs typeface="Gothic A1"/>
                <a:sym typeface="Gothic A1"/>
              </a:rPr>
              <a:t>Short answer: 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I prefer traveling with friends.</a:t>
            </a:r>
            <a:endParaRPr sz="2700"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Gothic A1"/>
                <a:ea typeface="Gothic A1"/>
                <a:cs typeface="Gothic A1"/>
                <a:sym typeface="Gothic A1"/>
              </a:rPr>
              <a:t>Long answer: 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I prefer traveling with friends because it’s more fun, </a:t>
            </a:r>
            <a:r>
              <a:rPr lang="en-US" sz="2700" u="sng">
                <a:latin typeface="Gothic A1"/>
                <a:ea typeface="Gothic A1"/>
                <a:cs typeface="Gothic A1"/>
                <a:sym typeface="Gothic A1"/>
              </a:rPr>
              <a:t>but sometimes I enjoy going alone to have some peace and quiet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.</a:t>
            </a:r>
            <a:endParaRPr sz="270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318" name="Google Shape;318;g36b0670e840_1_6"/>
          <p:cNvSpPr/>
          <p:nvPr/>
        </p:nvSpPr>
        <p:spPr>
          <a:xfrm>
            <a:off x="710400" y="409867"/>
            <a:ext cx="10771200" cy="1332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5300">
                <a:solidFill>
                  <a:srgbClr val="362F5D"/>
                </a:solidFill>
                <a:latin typeface="Passion One"/>
                <a:ea typeface="Passion One"/>
                <a:cs typeface="Passion One"/>
                <a:sym typeface="Passion One"/>
              </a:rPr>
              <a:t>Contrasting ideas</a:t>
            </a:r>
            <a:endParaRPr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6b0670e840_1_12"/>
          <p:cNvSpPr txBox="1"/>
          <p:nvPr/>
        </p:nvSpPr>
        <p:spPr>
          <a:xfrm>
            <a:off x="609600" y="2064258"/>
            <a:ext cx="10972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002060"/>
                </a:solidFill>
                <a:latin typeface="Gothic A1"/>
                <a:ea typeface="Gothic A1"/>
                <a:cs typeface="Gothic A1"/>
                <a:sym typeface="Gothic A1"/>
              </a:rPr>
              <a:t>3. What’s your favorite means of transport when travel?</a:t>
            </a:r>
            <a:endParaRPr b="1" i="0" sz="1700" u="none" cap="none" strike="noStrike">
              <a:solidFill>
                <a:srgbClr val="000000"/>
              </a:solidFill>
            </a:endParaRPr>
          </a:p>
        </p:txBody>
      </p:sp>
      <p:sp>
        <p:nvSpPr>
          <p:cNvPr id="324" name="Google Shape;324;g36b0670e840_1_12"/>
          <p:cNvSpPr txBox="1"/>
          <p:nvPr/>
        </p:nvSpPr>
        <p:spPr>
          <a:xfrm>
            <a:off x="609598" y="3559633"/>
            <a:ext cx="10972800" cy="2408700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Gothic A1"/>
                <a:ea typeface="Gothic A1"/>
                <a:cs typeface="Gothic A1"/>
                <a:sym typeface="Gothic A1"/>
              </a:rPr>
              <a:t>Short answer: 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I like traveling by train.</a:t>
            </a:r>
            <a:endParaRPr sz="2700"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Gothic A1"/>
                <a:ea typeface="Gothic A1"/>
                <a:cs typeface="Gothic A1"/>
                <a:sym typeface="Gothic A1"/>
              </a:rPr>
              <a:t>Long answer: 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I like traveling by train because it’s comfortable, </a:t>
            </a:r>
            <a:r>
              <a:rPr lang="en-US" sz="2700" u="sng">
                <a:latin typeface="Gothic A1"/>
                <a:ea typeface="Gothic A1"/>
                <a:cs typeface="Gothic A1"/>
                <a:sym typeface="Gothic A1"/>
              </a:rPr>
              <a:t>and I can enjoy the beautiful scenery along the way. It’s also more relaxing than driving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.</a:t>
            </a:r>
            <a:endParaRPr sz="270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325" name="Google Shape;325;g36b0670e840_1_12"/>
          <p:cNvSpPr/>
          <p:nvPr/>
        </p:nvSpPr>
        <p:spPr>
          <a:xfrm>
            <a:off x="710400" y="409867"/>
            <a:ext cx="10771200" cy="1332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5300">
                <a:solidFill>
                  <a:srgbClr val="362F5D"/>
                </a:solidFill>
                <a:latin typeface="Passion One"/>
                <a:ea typeface="Passion One"/>
                <a:cs typeface="Passion One"/>
                <a:sym typeface="Passion One"/>
              </a:rPr>
              <a:t>Combining ideas</a:t>
            </a:r>
            <a:endParaRPr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6b0670e840_1_18"/>
          <p:cNvSpPr txBox="1"/>
          <p:nvPr/>
        </p:nvSpPr>
        <p:spPr>
          <a:xfrm>
            <a:off x="609600" y="2603891"/>
            <a:ext cx="10972800" cy="6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  <a:latin typeface="Gothic A1"/>
                <a:ea typeface="Gothic A1"/>
                <a:cs typeface="Gothic A1"/>
                <a:sym typeface="Gothic A1"/>
              </a:rPr>
              <a:t>4. Have your travel habits changed over time?</a:t>
            </a:r>
            <a:endParaRPr b="1" i="0" sz="1900" u="none" cap="none" strike="noStrike">
              <a:solidFill>
                <a:srgbClr val="000000"/>
              </a:solidFill>
            </a:endParaRPr>
          </a:p>
        </p:txBody>
      </p:sp>
      <p:sp>
        <p:nvSpPr>
          <p:cNvPr id="331" name="Google Shape;331;g36b0670e840_1_18"/>
          <p:cNvSpPr txBox="1"/>
          <p:nvPr/>
        </p:nvSpPr>
        <p:spPr>
          <a:xfrm>
            <a:off x="609598" y="3559633"/>
            <a:ext cx="10972800" cy="2408700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Gothic A1"/>
                <a:ea typeface="Gothic A1"/>
                <a:cs typeface="Gothic A1"/>
                <a:sym typeface="Gothic A1"/>
              </a:rPr>
              <a:t>Short answer: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 Yes, they’ve changed a lot.</a:t>
            </a:r>
            <a:endParaRPr sz="2700"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Gothic A1"/>
                <a:ea typeface="Gothic A1"/>
                <a:cs typeface="Gothic A1"/>
                <a:sym typeface="Gothic A1"/>
              </a:rPr>
              <a:t>Long answer: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 Yes, they’ve changed a lot. </a:t>
            </a:r>
            <a:r>
              <a:rPr lang="en-US" sz="2700" u="sng">
                <a:latin typeface="Gothic A1"/>
                <a:ea typeface="Gothic A1"/>
                <a:cs typeface="Gothic A1"/>
                <a:sym typeface="Gothic A1"/>
              </a:rPr>
              <a:t>I used to prefer short trips near my city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, but now I enjoy longer trips to different countries when I have time.</a:t>
            </a:r>
            <a:endParaRPr sz="270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332" name="Google Shape;332;g36b0670e840_1_18"/>
          <p:cNvSpPr/>
          <p:nvPr/>
        </p:nvSpPr>
        <p:spPr>
          <a:xfrm>
            <a:off x="710400" y="409867"/>
            <a:ext cx="10771200" cy="1332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5300">
                <a:solidFill>
                  <a:srgbClr val="362F5D"/>
                </a:solidFill>
                <a:latin typeface="Passion One"/>
                <a:ea typeface="Passion One"/>
                <a:cs typeface="Passion One"/>
                <a:sym typeface="Passion One"/>
              </a:rPr>
              <a:t>Past comparisons</a:t>
            </a:r>
            <a:endParaRPr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0670e840_1_24"/>
          <p:cNvSpPr txBox="1"/>
          <p:nvPr/>
        </p:nvSpPr>
        <p:spPr>
          <a:xfrm>
            <a:off x="609600" y="2603891"/>
            <a:ext cx="10972800" cy="6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  <a:latin typeface="Gothic A1"/>
                <a:ea typeface="Gothic A1"/>
                <a:cs typeface="Gothic A1"/>
                <a:sym typeface="Gothic A1"/>
              </a:rPr>
              <a:t>5. Do you like visiting big cities?</a:t>
            </a:r>
            <a:endParaRPr b="1" i="0" sz="1900" u="none" cap="none" strike="noStrike">
              <a:solidFill>
                <a:srgbClr val="000000"/>
              </a:solidFill>
            </a:endParaRPr>
          </a:p>
        </p:txBody>
      </p:sp>
      <p:sp>
        <p:nvSpPr>
          <p:cNvPr id="338" name="Google Shape;338;g36b0670e840_1_24"/>
          <p:cNvSpPr txBox="1"/>
          <p:nvPr/>
        </p:nvSpPr>
        <p:spPr>
          <a:xfrm>
            <a:off x="609598" y="3559633"/>
            <a:ext cx="10972800" cy="1785300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Gothic A1"/>
                <a:ea typeface="Gothic A1"/>
                <a:cs typeface="Gothic A1"/>
                <a:sym typeface="Gothic A1"/>
              </a:rPr>
              <a:t>Short answer: 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Yes, I always do.</a:t>
            </a:r>
            <a:endParaRPr sz="2700"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Gothic A1"/>
                <a:ea typeface="Gothic A1"/>
                <a:cs typeface="Gothic A1"/>
                <a:sym typeface="Gothic A1"/>
              </a:rPr>
              <a:t>Long answer: 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Yes, I always do </a:t>
            </a:r>
            <a:r>
              <a:rPr lang="en-US" sz="2700" u="sng">
                <a:latin typeface="Gothic A1"/>
                <a:ea typeface="Gothic A1"/>
                <a:cs typeface="Gothic A1"/>
                <a:sym typeface="Gothic A1"/>
              </a:rPr>
              <a:t>because I can explore a lot of interesting places and try many exciting activities there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.</a:t>
            </a:r>
            <a:endParaRPr sz="270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339" name="Google Shape;339;g36b0670e840_1_24"/>
          <p:cNvSpPr/>
          <p:nvPr/>
        </p:nvSpPr>
        <p:spPr>
          <a:xfrm>
            <a:off x="710400" y="409867"/>
            <a:ext cx="10771200" cy="1332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5300">
                <a:solidFill>
                  <a:srgbClr val="362F5D"/>
                </a:solidFill>
                <a:latin typeface="Passion One"/>
                <a:ea typeface="Passion One"/>
                <a:cs typeface="Passion One"/>
                <a:sym typeface="Passion One"/>
              </a:rPr>
              <a:t>Adding reasons</a:t>
            </a:r>
            <a:endParaRPr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6b0670e840_1_30"/>
          <p:cNvSpPr txBox="1"/>
          <p:nvPr/>
        </p:nvSpPr>
        <p:spPr>
          <a:xfrm>
            <a:off x="609600" y="2603891"/>
            <a:ext cx="10972800" cy="6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  <a:latin typeface="Gothic A1"/>
                <a:ea typeface="Gothic A1"/>
                <a:cs typeface="Gothic A1"/>
                <a:sym typeface="Gothic A1"/>
              </a:rPr>
              <a:t>6. Do you like travelling abroad?</a:t>
            </a:r>
            <a:endParaRPr b="1" i="0" sz="1900" u="none" cap="none" strike="noStrike">
              <a:solidFill>
                <a:srgbClr val="000000"/>
              </a:solidFill>
            </a:endParaRPr>
          </a:p>
        </p:txBody>
      </p:sp>
      <p:sp>
        <p:nvSpPr>
          <p:cNvPr id="345" name="Google Shape;345;g36b0670e840_1_30"/>
          <p:cNvSpPr txBox="1"/>
          <p:nvPr/>
        </p:nvSpPr>
        <p:spPr>
          <a:xfrm>
            <a:off x="609598" y="3559633"/>
            <a:ext cx="10972800" cy="2408700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Gothic A1"/>
                <a:ea typeface="Gothic A1"/>
                <a:cs typeface="Gothic A1"/>
                <a:sym typeface="Gothic A1"/>
              </a:rPr>
              <a:t>Short answer: 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Yes, I love visiting other countries.</a:t>
            </a:r>
            <a:endParaRPr sz="2700"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Gothic A1"/>
                <a:ea typeface="Gothic A1"/>
                <a:cs typeface="Gothic A1"/>
                <a:sym typeface="Gothic A1"/>
              </a:rPr>
              <a:t>Long answer: 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Yes, I love visiting other countries. Actually, </a:t>
            </a:r>
            <a:r>
              <a:rPr lang="en-US" sz="2700" u="sng">
                <a:latin typeface="Gothic A1"/>
                <a:ea typeface="Gothic A1"/>
                <a:cs typeface="Gothic A1"/>
                <a:sym typeface="Gothic A1"/>
              </a:rPr>
              <a:t>I’m planning a trip to Japan next summer. I want to visit Tokyo and Kyoto to experience the culture and try the local food.</a:t>
            </a:r>
            <a:endParaRPr sz="2700" u="sng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346" name="Google Shape;346;g36b0670e840_1_30"/>
          <p:cNvSpPr/>
          <p:nvPr/>
        </p:nvSpPr>
        <p:spPr>
          <a:xfrm>
            <a:off x="710400" y="409867"/>
            <a:ext cx="10771200" cy="1332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5300">
                <a:solidFill>
                  <a:srgbClr val="362F5D"/>
                </a:solidFill>
                <a:latin typeface="Passion One"/>
                <a:ea typeface="Passion One"/>
                <a:cs typeface="Passion One"/>
                <a:sym typeface="Passion One"/>
              </a:rPr>
              <a:t>Future</a:t>
            </a:r>
            <a:endParaRPr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6b0670e840_1_36"/>
          <p:cNvSpPr txBox="1"/>
          <p:nvPr/>
        </p:nvSpPr>
        <p:spPr>
          <a:xfrm>
            <a:off x="609600" y="2603891"/>
            <a:ext cx="10972800" cy="6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  <a:latin typeface="Gothic A1"/>
                <a:ea typeface="Gothic A1"/>
                <a:cs typeface="Gothic A1"/>
                <a:sym typeface="Gothic A1"/>
              </a:rPr>
              <a:t>7. What kind of places do you like to visit?</a:t>
            </a:r>
            <a:endParaRPr b="1" i="0" sz="1900" u="none" cap="none" strike="noStrike">
              <a:solidFill>
                <a:srgbClr val="000000"/>
              </a:solidFill>
            </a:endParaRPr>
          </a:p>
        </p:txBody>
      </p:sp>
      <p:sp>
        <p:nvSpPr>
          <p:cNvPr id="352" name="Google Shape;352;g36b0670e840_1_36"/>
          <p:cNvSpPr txBox="1"/>
          <p:nvPr/>
        </p:nvSpPr>
        <p:spPr>
          <a:xfrm>
            <a:off x="609598" y="3559633"/>
            <a:ext cx="10972800" cy="2408700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Gothic A1"/>
                <a:ea typeface="Gothic A1"/>
                <a:cs typeface="Gothic A1"/>
                <a:sym typeface="Gothic A1"/>
              </a:rPr>
              <a:t>Short answer: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 I like visiting historical sites.</a:t>
            </a:r>
            <a:endParaRPr sz="2700"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Gothic A1"/>
                <a:ea typeface="Gothic A1"/>
                <a:cs typeface="Gothic A1"/>
                <a:sym typeface="Gothic A1"/>
              </a:rPr>
              <a:t>Long answer: 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I like visiting historical sites, </a:t>
            </a:r>
            <a:r>
              <a:rPr lang="en-US" sz="2700" u="sng">
                <a:latin typeface="Gothic A1"/>
                <a:ea typeface="Gothic A1"/>
                <a:cs typeface="Gothic A1"/>
                <a:sym typeface="Gothic A1"/>
              </a:rPr>
              <a:t>for example, last year I went to the ancient city of Hoi An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, and it was amazing to see the old buildings and learn about the history there.</a:t>
            </a:r>
            <a:endParaRPr sz="270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353" name="Google Shape;353;g36b0670e840_1_36"/>
          <p:cNvSpPr/>
          <p:nvPr/>
        </p:nvSpPr>
        <p:spPr>
          <a:xfrm>
            <a:off x="710400" y="409867"/>
            <a:ext cx="10771200" cy="1332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5300">
                <a:solidFill>
                  <a:srgbClr val="362F5D"/>
                </a:solidFill>
                <a:latin typeface="Passion One"/>
                <a:ea typeface="Passion One"/>
                <a:cs typeface="Passion One"/>
                <a:sym typeface="Passion One"/>
              </a:rPr>
              <a:t>Giving examples</a:t>
            </a:r>
            <a:endParaRPr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6b0670e840_1_42"/>
          <p:cNvSpPr txBox="1"/>
          <p:nvPr/>
        </p:nvSpPr>
        <p:spPr>
          <a:xfrm>
            <a:off x="609600" y="2603891"/>
            <a:ext cx="10972800" cy="6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  <a:latin typeface="Gothic A1"/>
                <a:ea typeface="Gothic A1"/>
                <a:cs typeface="Gothic A1"/>
                <a:sym typeface="Gothic A1"/>
              </a:rPr>
              <a:t>8. When do you usually travel?</a:t>
            </a:r>
            <a:endParaRPr b="1" i="0" sz="1900" u="none" cap="none" strike="noStrike">
              <a:solidFill>
                <a:srgbClr val="000000"/>
              </a:solidFill>
            </a:endParaRPr>
          </a:p>
        </p:txBody>
      </p:sp>
      <p:sp>
        <p:nvSpPr>
          <p:cNvPr id="359" name="Google Shape;359;g36b0670e840_1_42"/>
          <p:cNvSpPr txBox="1"/>
          <p:nvPr/>
        </p:nvSpPr>
        <p:spPr>
          <a:xfrm>
            <a:off x="609598" y="3559633"/>
            <a:ext cx="10972800" cy="2408700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Gothic A1"/>
                <a:ea typeface="Gothic A1"/>
                <a:cs typeface="Gothic A1"/>
                <a:sym typeface="Gothic A1"/>
              </a:rPr>
              <a:t>Short answer: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 I travel a few times during summer and winter.</a:t>
            </a:r>
            <a:endParaRPr sz="2700"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Gothic A1"/>
                <a:ea typeface="Gothic A1"/>
                <a:cs typeface="Gothic A1"/>
                <a:sym typeface="Gothic A1"/>
              </a:rPr>
              <a:t>Long answer: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 I </a:t>
            </a:r>
            <a:r>
              <a:rPr lang="en-US" sz="2700" u="sng">
                <a:latin typeface="Gothic A1"/>
                <a:ea typeface="Gothic A1"/>
                <a:cs typeface="Gothic A1"/>
                <a:sym typeface="Gothic A1"/>
              </a:rPr>
              <a:t>usually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 travel a few times a year, mostly during the summer and winter holidays. However, </a:t>
            </a:r>
            <a:r>
              <a:rPr lang="en-US" sz="2700" u="sng">
                <a:latin typeface="Gothic A1"/>
                <a:ea typeface="Gothic A1"/>
                <a:cs typeface="Gothic A1"/>
                <a:sym typeface="Gothic A1"/>
              </a:rPr>
              <a:t>sometimes</a:t>
            </a:r>
            <a:r>
              <a:rPr lang="en-US" sz="2700">
                <a:latin typeface="Gothic A1"/>
                <a:ea typeface="Gothic A1"/>
                <a:cs typeface="Gothic A1"/>
                <a:sym typeface="Gothic A1"/>
              </a:rPr>
              <a:t> I also take short weekend trips when I feel like I need a break.</a:t>
            </a:r>
            <a:endParaRPr sz="270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360" name="Google Shape;360;g36b0670e840_1_42"/>
          <p:cNvSpPr/>
          <p:nvPr/>
        </p:nvSpPr>
        <p:spPr>
          <a:xfrm>
            <a:off x="710400" y="409867"/>
            <a:ext cx="10771200" cy="1332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5300">
                <a:solidFill>
                  <a:srgbClr val="362F5D"/>
                </a:solidFill>
                <a:latin typeface="Passion One"/>
                <a:ea typeface="Passion One"/>
                <a:cs typeface="Passion One"/>
                <a:sym typeface="Passion One"/>
              </a:rPr>
              <a:t>Frequency</a:t>
            </a:r>
            <a:endParaRPr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0"/>
          <p:cNvSpPr txBox="1"/>
          <p:nvPr/>
        </p:nvSpPr>
        <p:spPr>
          <a:xfrm>
            <a:off x="0" y="476071"/>
            <a:ext cx="12192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Times New Roman"/>
              <a:buNone/>
            </a:pPr>
            <a:r>
              <a:rPr b="0" i="0" lang="en-US" sz="7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EXPANDING  IDEAS</a:t>
            </a:r>
            <a:endParaRPr b="0" i="0" sz="72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66" name="Google Shape;366;p30"/>
          <p:cNvGrpSpPr/>
          <p:nvPr/>
        </p:nvGrpSpPr>
        <p:grpSpPr>
          <a:xfrm>
            <a:off x="2809" y="2319791"/>
            <a:ext cx="12186381" cy="4424115"/>
            <a:chOff x="2809" y="109991"/>
            <a:chExt cx="12186381" cy="4424115"/>
          </a:xfrm>
        </p:grpSpPr>
        <p:sp>
          <p:nvSpPr>
            <p:cNvPr id="367" name="Google Shape;367;p30"/>
            <p:cNvSpPr/>
            <p:nvPr/>
          </p:nvSpPr>
          <p:spPr>
            <a:xfrm>
              <a:off x="2809" y="135095"/>
              <a:ext cx="4878335" cy="1283493"/>
            </a:xfrm>
            <a:prstGeom prst="chevron">
              <a:avLst>
                <a:gd fmla="val 50000" name="adj"/>
              </a:avLst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30"/>
            <p:cNvSpPr txBox="1"/>
            <p:nvPr/>
          </p:nvSpPr>
          <p:spPr>
            <a:xfrm>
              <a:off x="644556" y="135095"/>
              <a:ext cx="3594842" cy="12834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35550" spcFirstLastPara="1" rIns="0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Feelings &amp; Opinions</a:t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9" name="Google Shape;369;p30"/>
            <p:cNvSpPr/>
            <p:nvPr/>
          </p:nvSpPr>
          <p:spPr>
            <a:xfrm>
              <a:off x="4464009" y="109991"/>
              <a:ext cx="4049018" cy="1333702"/>
            </a:xfrm>
            <a:prstGeom prst="chevron">
              <a:avLst>
                <a:gd fmla="val 50000" name="adj"/>
              </a:avLst>
            </a:prstGeom>
            <a:solidFill>
              <a:srgbClr val="F7D5CB">
                <a:alpha val="89411"/>
              </a:srgbClr>
            </a:solidFill>
            <a:ln cap="flat" cmpd="sng" w="12700">
              <a:solidFill>
                <a:srgbClr val="F7D5CB">
                  <a:alpha val="8941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30"/>
            <p:cNvSpPr txBox="1"/>
            <p:nvPr/>
          </p:nvSpPr>
          <p:spPr>
            <a:xfrm>
              <a:off x="5130860" y="109991"/>
              <a:ext cx="2715316" cy="1333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35550" spcFirstLastPara="1" rIns="0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Contrasting Ideas</a:t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1" name="Google Shape;371;p30"/>
            <p:cNvSpPr/>
            <p:nvPr/>
          </p:nvSpPr>
          <p:spPr>
            <a:xfrm>
              <a:off x="8140172" y="109991"/>
              <a:ext cx="4049018" cy="1333702"/>
            </a:xfrm>
            <a:prstGeom prst="chevron">
              <a:avLst>
                <a:gd fmla="val 50000" name="adj"/>
              </a:avLst>
            </a:prstGeom>
            <a:solidFill>
              <a:srgbClr val="E0E0E0">
                <a:alpha val="89411"/>
              </a:srgbClr>
            </a:solidFill>
            <a:ln cap="flat" cmpd="sng" w="12700">
              <a:solidFill>
                <a:srgbClr val="E0E0E0">
                  <a:alpha val="8941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30"/>
            <p:cNvSpPr txBox="1"/>
            <p:nvPr/>
          </p:nvSpPr>
          <p:spPr>
            <a:xfrm>
              <a:off x="8807023" y="109991"/>
              <a:ext cx="2715316" cy="1333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35550" spcFirstLastPara="1" rIns="0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Combining Details</a:t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3" name="Google Shape;373;p30"/>
            <p:cNvSpPr/>
            <p:nvPr/>
          </p:nvSpPr>
          <p:spPr>
            <a:xfrm>
              <a:off x="2809" y="1648486"/>
              <a:ext cx="4878335" cy="1283493"/>
            </a:xfrm>
            <a:prstGeom prst="chevron">
              <a:avLst>
                <a:gd fmla="val 50000" name="adj"/>
              </a:avLst>
            </a:prstGeom>
            <a:solidFill>
              <a:schemeClr val="accent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30"/>
            <p:cNvSpPr txBox="1"/>
            <p:nvPr/>
          </p:nvSpPr>
          <p:spPr>
            <a:xfrm>
              <a:off x="644556" y="1648486"/>
              <a:ext cx="3594842" cy="12834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35550" spcFirstLastPara="1" rIns="0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Past Comparisons</a:t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5" name="Google Shape;375;p30"/>
            <p:cNvSpPr/>
            <p:nvPr/>
          </p:nvSpPr>
          <p:spPr>
            <a:xfrm>
              <a:off x="4464009" y="1623382"/>
              <a:ext cx="4049018" cy="1333702"/>
            </a:xfrm>
            <a:prstGeom prst="chevron">
              <a:avLst>
                <a:gd fmla="val 50000" name="adj"/>
              </a:avLst>
            </a:prstGeom>
            <a:solidFill>
              <a:srgbClr val="FFE8CA">
                <a:alpha val="89411"/>
              </a:srgbClr>
            </a:solidFill>
            <a:ln cap="flat" cmpd="sng" w="12700">
              <a:solidFill>
                <a:srgbClr val="FFE8CA">
                  <a:alpha val="8941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30"/>
            <p:cNvSpPr txBox="1"/>
            <p:nvPr/>
          </p:nvSpPr>
          <p:spPr>
            <a:xfrm>
              <a:off x="5130860" y="1623382"/>
              <a:ext cx="2715316" cy="1333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35550" spcFirstLastPara="1" rIns="0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Adding Reasons</a:t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7" name="Google Shape;377;p30"/>
            <p:cNvSpPr/>
            <p:nvPr/>
          </p:nvSpPr>
          <p:spPr>
            <a:xfrm>
              <a:off x="8140172" y="1623382"/>
              <a:ext cx="4049018" cy="1333702"/>
            </a:xfrm>
            <a:prstGeom prst="chevron">
              <a:avLst>
                <a:gd fmla="val 50000" name="adj"/>
              </a:avLst>
            </a:prstGeom>
            <a:solidFill>
              <a:srgbClr val="CCD3EA">
                <a:alpha val="89411"/>
              </a:srgbClr>
            </a:solidFill>
            <a:ln cap="flat" cmpd="sng" w="12700">
              <a:solidFill>
                <a:srgbClr val="CCD3EA">
                  <a:alpha val="8941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30"/>
            <p:cNvSpPr txBox="1"/>
            <p:nvPr/>
          </p:nvSpPr>
          <p:spPr>
            <a:xfrm>
              <a:off x="8807023" y="1623382"/>
              <a:ext cx="2715316" cy="1333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35550" spcFirstLastPara="1" rIns="0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Future</a:t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9" name="Google Shape;379;p30"/>
            <p:cNvSpPr/>
            <p:nvPr/>
          </p:nvSpPr>
          <p:spPr>
            <a:xfrm>
              <a:off x="2155773" y="3200395"/>
              <a:ext cx="3970712" cy="1283493"/>
            </a:xfrm>
            <a:prstGeom prst="chevron">
              <a:avLst>
                <a:gd fmla="val 50000" name="adj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30"/>
            <p:cNvSpPr txBox="1"/>
            <p:nvPr/>
          </p:nvSpPr>
          <p:spPr>
            <a:xfrm>
              <a:off x="2797520" y="3200395"/>
              <a:ext cx="2687219" cy="12834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35550" spcFirstLastPara="1" rIns="0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Giving Examples</a:t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1" name="Google Shape;381;p30"/>
            <p:cNvSpPr/>
            <p:nvPr/>
          </p:nvSpPr>
          <p:spPr>
            <a:xfrm>
              <a:off x="5714994" y="3200404"/>
              <a:ext cx="3756087" cy="1333702"/>
            </a:xfrm>
            <a:prstGeom prst="chevron">
              <a:avLst>
                <a:gd fmla="val 50000" name="adj"/>
              </a:avLst>
            </a:prstGeom>
            <a:solidFill>
              <a:srgbClr val="D4E2CE">
                <a:alpha val="89411"/>
              </a:srgbClr>
            </a:solidFill>
            <a:ln cap="flat" cmpd="sng" w="12700">
              <a:solidFill>
                <a:srgbClr val="D4E2CE">
                  <a:alpha val="8941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30"/>
            <p:cNvSpPr txBox="1"/>
            <p:nvPr/>
          </p:nvSpPr>
          <p:spPr>
            <a:xfrm>
              <a:off x="6381845" y="3200404"/>
              <a:ext cx="2422385" cy="1333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35550" spcFirstLastPara="1" rIns="0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Frequency</a:t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ransition spd="slow">
    <p:strips dir="rd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2020-10-13T08:44:11Z</dcterms:created>
  <dc:creator>Admin</dc:creator>
</cp:coreProperties>
</file>